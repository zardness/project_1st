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b2c8d89654aea" /><Relationship Type="http://schemas.openxmlformats.org/officeDocument/2006/relationships/extended-properties" Target="/docProps/app.xml" Id="R490d074c7d744d8f" /><Relationship Type="http://schemas.openxmlformats.org/officeDocument/2006/relationships/officeDocument" Target="/ppt/presentation.xml" Id="Rb45b2908303b49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d722af39ca4011"/>
  </p:sldMasterIdLst>
  <p:notesMasterIdLst>
    <p:notesMasterId xmlns:r="http://schemas.openxmlformats.org/officeDocument/2006/relationships" r:id="R89f455f2016d4b8d"/>
  </p:notesMasterIdLst>
  <p:sldIdLst>
    <p:sldId xmlns:r="http://schemas.openxmlformats.org/officeDocument/2006/relationships" id="256" r:id="R8d546d0801e949dd"/>
    <p:sldId xmlns:r="http://schemas.openxmlformats.org/officeDocument/2006/relationships" id="257" r:id="R6d9025349c0f44e7"/>
    <p:sldId xmlns:r="http://schemas.openxmlformats.org/officeDocument/2006/relationships" id="258" r:id="R0fca8ab5edc44006"/>
    <p:sldId xmlns:r="http://schemas.openxmlformats.org/officeDocument/2006/relationships" id="259" r:id="R48b23ccd4099471b"/>
    <p:sldId xmlns:r="http://schemas.openxmlformats.org/officeDocument/2006/relationships" id="260" r:id="R18bd5600b635458b"/>
    <p:sldId xmlns:r="http://schemas.openxmlformats.org/officeDocument/2006/relationships" id="261" r:id="R4b7fd5e6f3134444"/>
    <p:sldId xmlns:r="http://schemas.openxmlformats.org/officeDocument/2006/relationships" id="262" r:id="Ra48de06a37654071"/>
    <p:sldId xmlns:r="http://schemas.openxmlformats.org/officeDocument/2006/relationships" id="263" r:id="R71b1fed990ed4370"/>
    <p:sldId xmlns:r="http://schemas.openxmlformats.org/officeDocument/2006/relationships" id="264" r:id="R2e6779fe40b14b6c"/>
    <p:sldId xmlns:r="http://schemas.openxmlformats.org/officeDocument/2006/relationships" id="265" r:id="R96f7febf9a00485b"/>
    <p:sldId xmlns:r="http://schemas.openxmlformats.org/officeDocument/2006/relationships" id="266" r:id="R1dbe6c9517304ac7"/>
    <p:sldId xmlns:r="http://schemas.openxmlformats.org/officeDocument/2006/relationships" id="267" r:id="R9a43d7e588d34933"/>
    <p:sldId xmlns:r="http://schemas.openxmlformats.org/officeDocument/2006/relationships" id="268" r:id="R65cff0faebb54471"/>
    <p:sldId xmlns:r="http://schemas.openxmlformats.org/officeDocument/2006/relationships" id="269" r:id="Rcff1a241b4b6433a"/>
    <p:sldId xmlns:r="http://schemas.openxmlformats.org/officeDocument/2006/relationships" id="270" r:id="Rdd877dd2da904cd8"/>
    <p:sldId xmlns:r="http://schemas.openxmlformats.org/officeDocument/2006/relationships" id="271" r:id="R3bc7f2ed3d214a0d"/>
    <p:sldId xmlns:r="http://schemas.openxmlformats.org/officeDocument/2006/relationships" id="272" r:id="R80181e7cefd74edb"/>
    <p:sldId xmlns:r="http://schemas.openxmlformats.org/officeDocument/2006/relationships" id="273" r:id="R062ad7cd49a74f39"/>
    <p:sldId xmlns:r="http://schemas.openxmlformats.org/officeDocument/2006/relationships" id="274" r:id="Rccbfe260664345a2"/>
    <p:sldId xmlns:r="http://schemas.openxmlformats.org/officeDocument/2006/relationships" id="275" r:id="R563c0b82e59f4891"/>
    <p:sldId xmlns:r="http://schemas.openxmlformats.org/officeDocument/2006/relationships" id="276" r:id="R6c39966a8cdc4b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0d08a1c8a74bfe" /><Relationship Type="http://schemas.openxmlformats.org/officeDocument/2006/relationships/slideMaster" Target="/ppt/slideMasters/slideMaster1.xml" Id="R08d722af39ca4011" /><Relationship Type="http://schemas.openxmlformats.org/officeDocument/2006/relationships/notesMaster" Target="/ppt/notesMasters/notesMaster1.xml" Id="R89f455f2016d4b8d" /><Relationship Type="http://schemas.openxmlformats.org/officeDocument/2006/relationships/presProps" Target="/ppt/presProps.xml" Id="Rd90be3e9e4b541e3" /><Relationship Type="http://schemas.openxmlformats.org/officeDocument/2006/relationships/tableStyles" Target="/ppt/tableStyles.xml" Id="R681ee5c2b1b145fc" /><Relationship Type="http://schemas.openxmlformats.org/officeDocument/2006/relationships/slide" Target="/ppt/slides/slide1.xml" Id="R8d546d0801e949dd" /><Relationship Type="http://schemas.openxmlformats.org/officeDocument/2006/relationships/slide" Target="/ppt/slides/slide2.xml" Id="R6d9025349c0f44e7" /><Relationship Type="http://schemas.openxmlformats.org/officeDocument/2006/relationships/slide" Target="/ppt/slides/slide3.xml" Id="R0fca8ab5edc44006" /><Relationship Type="http://schemas.openxmlformats.org/officeDocument/2006/relationships/slide" Target="/ppt/slides/slide4.xml" Id="R48b23ccd4099471b" /><Relationship Type="http://schemas.openxmlformats.org/officeDocument/2006/relationships/slide" Target="/ppt/slides/slide5.xml" Id="R18bd5600b635458b" /><Relationship Type="http://schemas.openxmlformats.org/officeDocument/2006/relationships/slide" Target="/ppt/slides/slide6.xml" Id="R4b7fd5e6f3134444" /><Relationship Type="http://schemas.openxmlformats.org/officeDocument/2006/relationships/slide" Target="/ppt/slides/slide7.xml" Id="Ra48de06a37654071" /><Relationship Type="http://schemas.openxmlformats.org/officeDocument/2006/relationships/slide" Target="/ppt/slides/slide8.xml" Id="R71b1fed990ed4370" /><Relationship Type="http://schemas.openxmlformats.org/officeDocument/2006/relationships/slide" Target="/ppt/slides/slide9.xml" Id="R2e6779fe40b14b6c" /><Relationship Type="http://schemas.openxmlformats.org/officeDocument/2006/relationships/slide" Target="/ppt/slides/slide10.xml" Id="R96f7febf9a00485b" /><Relationship Type="http://schemas.openxmlformats.org/officeDocument/2006/relationships/slide" Target="/ppt/slides/slide11.xml" Id="R1dbe6c9517304ac7" /><Relationship Type="http://schemas.openxmlformats.org/officeDocument/2006/relationships/slide" Target="/ppt/slides/slide12.xml" Id="R9a43d7e588d34933" /><Relationship Type="http://schemas.openxmlformats.org/officeDocument/2006/relationships/slide" Target="/ppt/slides/slide13.xml" Id="R65cff0faebb54471" /><Relationship Type="http://schemas.openxmlformats.org/officeDocument/2006/relationships/slide" Target="/ppt/slides/slide14.xml" Id="Rcff1a241b4b6433a" /><Relationship Type="http://schemas.openxmlformats.org/officeDocument/2006/relationships/slide" Target="/ppt/slides/slide15.xml" Id="Rdd877dd2da904cd8" /><Relationship Type="http://schemas.openxmlformats.org/officeDocument/2006/relationships/slide" Target="/ppt/slides/slide16.xml" Id="R3bc7f2ed3d214a0d" /><Relationship Type="http://schemas.openxmlformats.org/officeDocument/2006/relationships/slide" Target="/ppt/slides/slide17.xml" Id="R80181e7cefd74edb" /><Relationship Type="http://schemas.openxmlformats.org/officeDocument/2006/relationships/slide" Target="/ppt/slides/slide18.xml" Id="R062ad7cd49a74f39" /><Relationship Type="http://schemas.openxmlformats.org/officeDocument/2006/relationships/slide" Target="/ppt/slides/slide19.xml" Id="Rccbfe260664345a2" /><Relationship Type="http://schemas.openxmlformats.org/officeDocument/2006/relationships/slide" Target="/ppt/slides/slide20.xml" Id="R563c0b82e59f4891" /><Relationship Type="http://schemas.openxmlformats.org/officeDocument/2006/relationships/slide" Target="/ppt/slides/slide21.xml" Id="R6c39966a8cdc4b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19023b0f0045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5064b164a499e" /><Relationship Type="http://schemas.openxmlformats.org/officeDocument/2006/relationships/notesMaster" Target="/ppt/notesMasters/notesMaster1.xml" Id="Rabd9ca9761104b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d2465e8f084241" /><Relationship Type="http://schemas.openxmlformats.org/officeDocument/2006/relationships/notesMaster" Target="/ppt/notesMasters/notesMaster1.xml" Id="Ref2f0840e6d5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5e753d0d574c7d" /><Relationship Type="http://schemas.openxmlformats.org/officeDocument/2006/relationships/notesMaster" Target="/ppt/notesMasters/notesMaster1.xml" Id="Rb410a25acdfb48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1c66c03c7b4d35" /><Relationship Type="http://schemas.openxmlformats.org/officeDocument/2006/relationships/notesMaster" Target="/ppt/notesMasters/notesMaster1.xml" Id="R91aa69fd12774b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e8599fe8df4287" /><Relationship Type="http://schemas.openxmlformats.org/officeDocument/2006/relationships/notesMaster" Target="/ppt/notesMasters/notesMaster1.xml" Id="R21ee51122d8547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67fcf540a141bf" /><Relationship Type="http://schemas.openxmlformats.org/officeDocument/2006/relationships/notesMaster" Target="/ppt/notesMasters/notesMaster1.xml" Id="R27a682d7250445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649c2b3db94fcc" /><Relationship Type="http://schemas.openxmlformats.org/officeDocument/2006/relationships/notesMaster" Target="/ppt/notesMasters/notesMaster1.xml" Id="R1eb6e1d170a349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d300564ea24221" /><Relationship Type="http://schemas.openxmlformats.org/officeDocument/2006/relationships/notesMaster" Target="/ppt/notesMasters/notesMaster1.xml" Id="R6d986753284a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faaf1256a249a8" /><Relationship Type="http://schemas.openxmlformats.org/officeDocument/2006/relationships/notesMaster" Target="/ppt/notesMasters/notesMaster1.xml" Id="Ra5c0a9ad416f4b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58af5627ee44b7" /><Relationship Type="http://schemas.openxmlformats.org/officeDocument/2006/relationships/notesMaster" Target="/ppt/notesMasters/notesMaster1.xml" Id="Rad0714d80d3743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f4227ad63b48ea" /><Relationship Type="http://schemas.openxmlformats.org/officeDocument/2006/relationships/notesMaster" Target="/ppt/notesMasters/notesMaster1.xml" Id="R0a182ba65d5b47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78d91929cc4abe" /><Relationship Type="http://schemas.openxmlformats.org/officeDocument/2006/relationships/notesMaster" Target="/ppt/notesMasters/notesMaster1.xml" Id="R85052976ae5e4b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371200d72740da" /><Relationship Type="http://schemas.openxmlformats.org/officeDocument/2006/relationships/notesMaster" Target="/ppt/notesMasters/notesMaster1.xml" Id="R1cf8ae84ab3644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6055e00222456f" /><Relationship Type="http://schemas.openxmlformats.org/officeDocument/2006/relationships/notesMaster" Target="/ppt/notesMasters/notesMaster1.xml" Id="R95e3a01778ed471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9d01b99fd34799" /><Relationship Type="http://schemas.openxmlformats.org/officeDocument/2006/relationships/notesMaster" Target="/ppt/notesMasters/notesMaster1.xml" Id="R3600b4078db241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42706ae7de846f4" /><Relationship Type="http://schemas.openxmlformats.org/officeDocument/2006/relationships/notesMaster" Target="/ppt/notesMasters/notesMaster1.xml" Id="R4278453c2a5743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88ff44bc73542a2" /><Relationship Type="http://schemas.openxmlformats.org/officeDocument/2006/relationships/notesMaster" Target="/ppt/notesMasters/notesMaster1.xml" Id="R42ab30338d5f4a6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8d43ce249b417f" /><Relationship Type="http://schemas.openxmlformats.org/officeDocument/2006/relationships/notesMaster" Target="/ppt/notesMasters/notesMaster1.xml" Id="Rdf22987f5bba48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8d5b55bafc145f5" /><Relationship Type="http://schemas.openxmlformats.org/officeDocument/2006/relationships/notesMaster" Target="/ppt/notesMasters/notesMaster1.xml" Id="R7adacc08ebd14ec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755f4d53a9494f" /><Relationship Type="http://schemas.openxmlformats.org/officeDocument/2006/relationships/notesMaster" Target="/ppt/notesMasters/notesMaster1.xml" Id="Rc0bf446b00c84b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3bae839781421e" /><Relationship Type="http://schemas.openxmlformats.org/officeDocument/2006/relationships/notesMaster" Target="/ppt/notesMasters/notesMaster1.xml" Id="Rf5cdaf708396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확정 주제와 제공된 팀 프로젝트 결과보고서 양식을 토대로 구성. 기관명/멘토는 제공되지 않아 확인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 열린데이터 광장 실시간 대여정보: https://data.seoul.go.kr/dataList/datasetView.do?currentPageNo=1&amp;infId=OA-15493&amp;serviceKind=1&amp;srvType=A</a:t>
            </a:r>
          </a:p>
          <a:p xmlns:a="http://schemas.openxmlformats.org/drawingml/2006/main">
            <a:r>
              <a:t>임곗값과 현장 성과 지표는 제안이며 실측한 성과가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역할 근거: 제공된 프로젝트 관리 엑셀파일.png. 후속 작업은 제안이며 팀 확정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기간과 역할은 제공된 관리표. 완료 근거는 작업 전체 기록.txt 및 생성된 EDA 산출물. 10/7 이후는 계획. 상세는 프로젝트_관리.xlsx.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환경은 수업 자료와 사용자 지정 도구를 따름. 운영 API/모델 연결은 향후 구현.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 열린데이터 광장 실시간 대여정보: https://data.seoul.go.kr/dataList/datasetView.do?currentPageNo=1&amp;infId=OA-15493&amp;serviceKind=1&amp;srvType=A</a:t>
            </a:r>
          </a:p>
          <a:p xmlns:a="http://schemas.openxmlformats.org/drawingml/2006/main">
            <a:r>
              <a:t>기상청: https://data.kma.go.kr/api/selectApiDetail.do?openApiNo=241</a:t>
            </a:r>
          </a:p>
          <a:p xmlns:a="http://schemas.openxmlformats.org/drawingml/2006/main">
            <a:r>
              <a:t>실제 분석 근거: outputs/분석결과/핵심결과.json 및 발표용_결과요약.md. 2023~2025년 36개 월별 최종 대여반납 CSV.</a:t>
            </a:r>
          </a:p>
          <a:p xmlns:a="http://schemas.openxmlformats.org/drawingml/2006/main">
            <a:r>
              <a:t>2021~2025 재고 전처리 완료는 09.30 작업기록에 근거하며 행수/학습가능성은 별도 검증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 열린데이터 광장 실시간 대여정보: https://data.seoul.go.kr/dataList/datasetView.do?currentPageNo=1&amp;infId=OA-15493&amp;serviceKind=1&amp;srvType=A</a:t>
            </a:r>
          </a:p>
          <a:p xmlns:a="http://schemas.openxmlformats.org/drawingml/2006/main">
            <a:r>
              <a:t>독립된 이진 분류 2개를 제안. rackTotCnt는 거치대 개수이며 실제 최대 반납 가능 용량을 보장하지 않음. 아래 기준은 검증 전 제안.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기상청 관측자료 제공/품질: https://data.kma.go.kr/data/grnd/selectAsosRltmList.do?pgmNo=36&amp;tabNo=2</a:t>
            </a:r>
          </a:p>
          <a:p xmlns:a="http://schemas.openxmlformats.org/drawingml/2006/main">
            <a:r>
              <a:t>scikit-learn 수업자료 기반. 모델 입력은 시각 t까지 실제 이용 가능한 정보만 포함.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분석 근거: outputs/분석결과/핵심결과.json 및 발표용_결과요약.md. 2023~2025년 36개 월별 최종 대여반납 CSV.</a:t>
            </a:r>
          </a:p>
          <a:p xmlns:a="http://schemas.openxmlformats.org/drawingml/2006/main">
            <a:r>
              <a:t>일반 평일/공휴일 제외 주말/공휴일 상호배타 분류. 달력일 기준 일평균. 날씨·계절 통제 전 기술통계이므로 휴일의 인과효과로 해석하지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분석 근거: outputs/분석결과/핵심결과.json 및 발표용_결과요약.md. 2023~2025년 36개 월별 최종 대여반납 CSV.</a:t>
            </a:r>
          </a:p>
          <a:p xmlns:a="http://schemas.openxmlformats.org/drawingml/2006/main">
            <a:r>
              <a:t>자치구별 OLS는 2023 훈련·2024 검증 후 2023~2024 재학습, 2025 테스트. 요일평균 기준선과 동일 기간 비교. KMeans k=2 silhouette 0.6407224, 표준화된 요일/휴일 패턴. 분류 실험과 독립된 탐색적 분석.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분석 근거: outputs/분석결과/핵심결과.json 및 발표용_결과요약.md. 2023~2025년 36개 월별 최종 대여반납 CSV.</a:t>
            </a:r>
          </a:p>
          <a:p xmlns:a="http://schemas.openxmlformats.org/drawingml/2006/main">
            <a:r>
              <a:t>자치구_일별_분석데이터.csv에서 같은 날 25개 구 대여량 합계 후 월별 일평균을 계산. 겨울이 낮은 기술통계적 경향이며 날씨 인과효과를 입증하는 분석은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후보 모델은 C:/ai/Source 수업자료의 LogisticRegression, DecisionTreeClassifier, RandomForestClassifier. 매개변수는 본 프로젝트 비교 제안. SMOTENC는 사용자 요청 SMOTE의 범주형 데이터 적용 확장안.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https://imbalanced-learn.org/stable/common_pitfalls.html</a:t>
            </a:r>
          </a:p>
          <a:p xmlns:a="http://schemas.openxmlformats.org/drawingml/2006/main">
            <a:r>
              <a:t>https://imbalanced-learn.org/stable/over_sampling.html</a:t>
            </a:r>
          </a:p>
          <a:p xmlns:a="http://schemas.openxmlformats.org/drawingml/2006/main">
            <a:r>
              <a:t>과거 EDA 분할을 기반으로 한 제안. 재고 이력이 실제 해당 기간에 ID별로 결합 가능한지 확인 후 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실험 미실행 상태. 값을 임의로 채우지 않음. 부족·고재고 두 과제 각각 지표/양성비율/혼동행렬/임곗값을 기록할 계획.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웹 시안의 기능은 실제 구현. 표시 수치와 확률은 가상 예시. 예측 모델/API/실제 dispatch와 연결되지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직접 구현한 웹시안. 지도 경계는 southkorea/seoul-maps KOSTAT 2013(https://github.com/southkorea/seoul-maps), Apache 2.0. 실시간 현황이 아닌 가상 예시.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구현한 웹시안 캡처. 날짜/시간/자치구 검색, 상태 필터, 상세 모달, 검토 목록 추가 작동. 예측 확률과 재고는 가상값.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직접 구현한 웹시안. 데스크톱/태블릿/모바일 스크린샷과 기능 검증 근거. 모든 접근성 적합성을 인증한 것은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작업 전체 기록.txt(09.30,10.01), 기존 EDA 산출물, 사용자 제안. 실제 멘토 피드백/지원 내역은 제공되지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자체평가 점수는 팀이 합의할 항목이며 임의 작성하지 않음. 사용자 제공 결과보고서 양식의 평가·성과·개선요구 반영.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 열린데이터 광장 실시간 대여정보: https://data.seoul.go.kr/dataList/datasetView.do?currentPageNo=1&amp;infId=OA-15493&amp;serviceKind=1&amp;srvType=A</a:t>
            </a:r>
          </a:p>
          <a:p xmlns:a="http://schemas.openxmlformats.org/drawingml/2006/main">
            <a:r>
              <a:t>https://data.seoul.go.kr/dataList/5/literacyView.do</a:t>
            </a:r>
          </a:p>
          <a:p xmlns:a="http://schemas.openxmlformats.org/drawingml/2006/main">
            <a:r>
              <a:t>https://data.kma.go.kr/api/selectApiDetail.do?openApiNo=241</a:t>
            </a:r>
          </a:p>
          <a:p xmlns:a="http://schemas.openxmlformats.org/drawingml/2006/main">
            <a:r>
              <a:t>https://data.kma.go.kr/data/grnd/selectAsosRltmList.do?pgmNo=36&amp;tabNo=2</a:t>
            </a:r>
          </a:p>
          <a:p xmlns:a="http://schemas.openxmlformats.org/drawingml/2006/main">
            <a:r>
              <a:t>https://imbalanced-learn.org/stable/common_pitfalls.html</a:t>
            </a:r>
          </a:p>
          <a:p xmlns:a="http://schemas.openxmlformats.org/drawingml/2006/main">
            <a:r>
              <a:t>https://imbalanced-learn.org/stable/over_sampling.html</a:t>
            </a:r>
          </a:p>
          <a:p xmlns:a="http://schemas.openxmlformats.org/drawingml/2006/main">
            <a:r>
              <a:t>https://github.com/southkorea/seoul-maps</a:t>
            </a:r>
          </a:p>
          <a:p xmlns:a="http://schemas.openxmlformats.org/drawingml/2006/main">
            <a:r>
              <a:t>로컬 원본: ppt에 꼭 들어갈 내용.txt, 팀별 프로젝트 결과보고서.pptx, 0923.프로젝트명_작업일지_n조.docx, 작업 전체 기록.txt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a73ec7f30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595df6191648e7" /><Relationship Type="http://schemas.openxmlformats.org/officeDocument/2006/relationships/slideLayout" Target="/ppt/slideLayouts/slideLayout1.xml" Id="Rf18b76330a394f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8b76330a394f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629edc7e44308" /><Relationship Type="http://schemas.openxmlformats.org/officeDocument/2006/relationships/notesSlide" Target="/ppt/notesSlides/notesSlide1.xml" Id="R0831a010c9e047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0cc698c684083" /><Relationship Type="http://schemas.openxmlformats.org/officeDocument/2006/relationships/notesSlide" Target="/ppt/notesSlides/notesSlide2.xml" Id="R6b3575933eea4a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3037618b24c39" /><Relationship Type="http://schemas.openxmlformats.org/officeDocument/2006/relationships/notesSlide" Target="/ppt/notesSlides/notesSlide3.xml" Id="R6e2ffa0bed9a4f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11939d1624e3a" /><Relationship Type="http://schemas.openxmlformats.org/officeDocument/2006/relationships/notesSlide" Target="/ppt/notesSlides/notesSlide4.xml" Id="R2a11ff1d6c054a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213ef626c4f4e" /><Relationship Type="http://schemas.openxmlformats.org/officeDocument/2006/relationships/notesSlide" Target="/ppt/notesSlides/notesSlide5.xml" Id="R3f0b5a90f47940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b2c7bbc094310" /><Relationship Type="http://schemas.openxmlformats.org/officeDocument/2006/relationships/notesSlide" Target="/ppt/notesSlides/notesSlide6.xml" Id="R7559377b86a241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5f9eaf67a43ef" /><Relationship Type="http://schemas.openxmlformats.org/officeDocument/2006/relationships/notesSlide" Target="/ppt/notesSlides/notesSlide7.xml" Id="Rabf0d24c8e7e4c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8f9b09fa04996" /><Relationship Type="http://schemas.openxmlformats.org/officeDocument/2006/relationships/notesSlide" Target="/ppt/notesSlides/notesSlide8.xml" Id="R068cebbf55154c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e067df950438d" /><Relationship Type="http://schemas.openxmlformats.org/officeDocument/2006/relationships/chart" Target="/ppt/slides/charts/chart1.xml" Id="R113550cca51849d4" /><Relationship Type="http://schemas.openxmlformats.org/officeDocument/2006/relationships/notesSlide" Target="/ppt/notesSlides/notesSlide9.xml" Id="Rfa00fc4b48804b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8acd2a10f4447" /><Relationship Type="http://schemas.openxmlformats.org/officeDocument/2006/relationships/chart" Target="/ppt/slides/charts/chart2.xml" Id="R089b764d1b1b41f0" /><Relationship Type="http://schemas.openxmlformats.org/officeDocument/2006/relationships/notesSlide" Target="/ppt/notesSlides/notesSlide10.xml" Id="R80b6664c825844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1cf2f61654b3f" /><Relationship Type="http://schemas.openxmlformats.org/officeDocument/2006/relationships/chart" Target="/ppt/slides/charts/chart3.xml" Id="Rc5caedd39a5d4996" /><Relationship Type="http://schemas.openxmlformats.org/officeDocument/2006/relationships/notesSlide" Target="/ppt/notesSlides/notesSlide11.xml" Id="R33bd3f61c24f47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06f761fa04b8f" /><Relationship Type="http://schemas.openxmlformats.org/officeDocument/2006/relationships/notesSlide" Target="/ppt/notesSlides/notesSlide12.xml" Id="Reabe7d3ba9944de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5587beda34a41" /><Relationship Type="http://schemas.openxmlformats.org/officeDocument/2006/relationships/notesSlide" Target="/ppt/notesSlides/notesSlide13.xml" Id="R14072c01a2e644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4a1ff4f8f4245" /><Relationship Type="http://schemas.openxmlformats.org/officeDocument/2006/relationships/notesSlide" Target="/ppt/notesSlides/notesSlide14.xml" Id="Rcd97b5cadc664f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806e037b2420f" /><Relationship Type="http://schemas.openxmlformats.org/officeDocument/2006/relationships/notesSlide" Target="/ppt/notesSlides/notesSlide15.xml" Id="R92133477df954ba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cdf291d684508" /><Relationship Type="http://schemas.openxmlformats.org/officeDocument/2006/relationships/image" Target="/ppt/media/image.png" Id="Rae775ea135bc42f6" /><Relationship Type="http://schemas.openxmlformats.org/officeDocument/2006/relationships/notesSlide" Target="/ppt/notesSlides/notesSlide16.xml" Id="Re0f900f57ba34d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42d640a284acb" /><Relationship Type="http://schemas.openxmlformats.org/officeDocument/2006/relationships/image" Target="/ppt/media/image2.png" Id="R005907b6d36446b3" /><Relationship Type="http://schemas.openxmlformats.org/officeDocument/2006/relationships/notesSlide" Target="/ppt/notesSlides/notesSlide17.xml" Id="R65900bcb4b9043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b5e9adbb94dda" /><Relationship Type="http://schemas.openxmlformats.org/officeDocument/2006/relationships/image" Target="/ppt/media/image3.png" Id="R84252a6713a94b52" /><Relationship Type="http://schemas.openxmlformats.org/officeDocument/2006/relationships/notesSlide" Target="/ppt/notesSlides/notesSlide18.xml" Id="Rb754899ac13e4e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c11efbd194c2d" /><Relationship Type="http://schemas.openxmlformats.org/officeDocument/2006/relationships/notesSlide" Target="/ppt/notesSlides/notesSlide19.xml" Id="Rd9047a1350c54b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f527c9d5d40d4" /><Relationship Type="http://schemas.openxmlformats.org/officeDocument/2006/relationships/notesSlide" Target="/ppt/notesSlides/notesSlide20.xml" Id="R291ab8de625a4b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a14bab8084fd8" /><Relationship Type="http://schemas.openxmlformats.org/officeDocument/2006/relationships/notesSlide" Target="/ppt/notesSlides/notesSlide21.xml" Id="R0f74d5c2ca1a40f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건/일</c:v>
          </c:tx>
          <c:spPr>
            <a:solidFill xmlns:a="http://schemas.openxmlformats.org/drawingml/2006/main">
              <a:srgbClr val="447D6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D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47D6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E290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일반 평일</c:v>
                </c:pt>
                <c:pt idx="1">
                  <c:v>일반 주말</c:v>
                </c:pt>
                <c:pt idx="2">
                  <c:v>공휴일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83897</c:v>
                </c:pt>
                <c:pt idx="1">
                  <c:v>64682</c:v>
                </c:pt>
                <c:pt idx="2">
                  <c:v>51828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D31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건/구·일</c:v>
          </c:tx>
          <c:spPr>
            <a:solidFill xmlns:a="http://schemas.openxmlformats.org/drawingml/2006/main">
              <a:srgbClr val="447D6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47D6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FE290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요일 평균 기준선</c:v>
                </c:pt>
                <c:pt idx="1">
                  <c:v>자치구별 OLS</c:v>
                </c:pt>
              </c:strCache>
            </c:strRef>
          </c:cat>
          <c:val>
            <c:numRef>
              <c:f>'Chart Data'!$B$2:$B$3</c:f>
              <c:numCache>
                <c:formatCode>#,##0.0</c:formatCode>
                <c:ptCount val="2"/>
                <c:pt idx="0">
                  <c:v>989.959</c:v>
                </c:pt>
                <c:pt idx="1">
                  <c:v>641.0503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83D31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2023</c:v>
          </c:tx>
          <c:spPr>
            <a:ln xmlns:a="http://schemas.openxmlformats.org/drawingml/2006/main" w="28575">
              <a:solidFill>
                <a:srgbClr val="447D64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447D64"/>
              </a:solidFill>
            </c:spPr>
          </c:marker>
          <c:cat>
            <c:strRef>
              <c:f>'Chart Data'!$A$2:$A$13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'Chart Data'!$B$2:$B$13</c:f>
              <c:numCache>
                <c:formatCode>#,##0</c:formatCode>
                <c:ptCount val="12"/>
                <c:pt idx="0">
                  <c:v>31064.58</c:v>
                </c:pt>
                <c:pt idx="1">
                  <c:v>49087.07</c:v>
                </c:pt>
                <c:pt idx="2">
                  <c:v>77555.9</c:v>
                </c:pt>
                <c:pt idx="3">
                  <c:v>85094.93</c:v>
                </c:pt>
                <c:pt idx="4">
                  <c:v>100960.23</c:v>
                </c:pt>
                <c:pt idx="5">
                  <c:v>104950.83</c:v>
                </c:pt>
                <c:pt idx="6">
                  <c:v>81507.29</c:v>
                </c:pt>
                <c:pt idx="7">
                  <c:v>81866</c:v>
                </c:pt>
                <c:pt idx="8">
                  <c:v>97999.73</c:v>
                </c:pt>
                <c:pt idx="9">
                  <c:v>111351.39</c:v>
                </c:pt>
                <c:pt idx="10">
                  <c:v>75604.73</c:v>
                </c:pt>
                <c:pt idx="11">
                  <c:v>44864.77</c:v>
                </c:pt>
              </c:numCache>
            </c:numRef>
          </c:val>
          <c:smooth val="0"/>
        </c:ser>
        <c:ser>
          <c:idx val="1"/>
          <c:order val="1"/>
          <c:tx>
            <c:v>2024</c:v>
          </c:tx>
          <c:spPr>
            <a:ln xmlns:a="http://schemas.openxmlformats.org/drawingml/2006/main" w="28575">
              <a:solidFill>
                <a:srgbClr val="445664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445664"/>
              </a:solidFill>
            </c:spPr>
          </c:marker>
          <c:cat>
            <c:strRef>
              <c:f>'Chart Data'!$C$2:$C$13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'Chart Data'!$D$2:$D$13</c:f>
              <c:numCache>
                <c:formatCode>#,##0</c:formatCode>
                <c:ptCount val="12"/>
                <c:pt idx="0">
                  <c:v>42233.45</c:v>
                </c:pt>
                <c:pt idx="1">
                  <c:v>46262.76</c:v>
                </c:pt>
                <c:pt idx="2">
                  <c:v>67549.32</c:v>
                </c:pt>
                <c:pt idx="3">
                  <c:v>101913.47</c:v>
                </c:pt>
                <c:pt idx="4">
                  <c:v>103704.42</c:v>
                </c:pt>
                <c:pt idx="5">
                  <c:v>109435.93</c:v>
                </c:pt>
                <c:pt idx="6">
                  <c:v>81658.1</c:v>
                </c:pt>
                <c:pt idx="7">
                  <c:v>87615.68</c:v>
                </c:pt>
                <c:pt idx="8">
                  <c:v>96105.43</c:v>
                </c:pt>
                <c:pt idx="9">
                  <c:v>103248.29</c:v>
                </c:pt>
                <c:pt idx="10">
                  <c:v>80203.67</c:v>
                </c:pt>
                <c:pt idx="11">
                  <c:v>50891</c:v>
                </c:pt>
              </c:numCache>
            </c:numRef>
          </c:val>
          <c:smooth val="0"/>
        </c:ser>
        <c:ser>
          <c:idx val="2"/>
          <c:order val="2"/>
          <c:tx>
            <c:v>2025</c:v>
          </c:tx>
          <c:spPr>
            <a:ln xmlns:a="http://schemas.openxmlformats.org/drawingml/2006/main" w="28575">
              <a:solidFill>
                <a:srgbClr val="2FE290"/>
              </a:solidFill>
            </a:ln>
          </c:spPr>
          <c:marker>
            <c:symbol val="diamond"/>
            <c:size val="6"/>
            <c:spPr>
              <a:solidFill xmlns:a="http://schemas.openxmlformats.org/drawingml/2006/main">
                <a:srgbClr val="2FE290"/>
              </a:solidFill>
            </c:spPr>
          </c:marker>
          <c:cat>
            <c:strRef>
              <c:f>'Chart Data'!$E$2:$E$13</c:f>
              <c:strCache>
                <c:ptCount val="12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  <c:pt idx="3">
                  <c:v>4월</c:v>
                </c:pt>
                <c:pt idx="4">
                  <c:v>5월</c:v>
                </c:pt>
                <c:pt idx="5">
                  <c:v>6월</c:v>
                </c:pt>
                <c:pt idx="6">
                  <c:v>7월</c:v>
                </c:pt>
                <c:pt idx="7">
                  <c:v>8월</c:v>
                </c:pt>
                <c:pt idx="8">
                  <c:v>9월</c:v>
                </c:pt>
                <c:pt idx="9">
                  <c:v>10월</c:v>
                </c:pt>
                <c:pt idx="10">
                  <c:v>11월</c:v>
                </c:pt>
                <c:pt idx="11">
                  <c:v>12월</c:v>
                </c:pt>
              </c:strCache>
            </c:strRef>
          </c:cat>
          <c:val>
            <c:numRef>
              <c:f>'Chart Data'!$F$2:$F$13</c:f>
              <c:numCache>
                <c:formatCode>#,##0</c:formatCode>
                <c:ptCount val="12"/>
                <c:pt idx="0">
                  <c:v>37952.74</c:v>
                </c:pt>
                <c:pt idx="1">
                  <c:v>40109.79</c:v>
                </c:pt>
                <c:pt idx="2">
                  <c:v>64028.23</c:v>
                </c:pt>
                <c:pt idx="3">
                  <c:v>83394.77</c:v>
                </c:pt>
                <c:pt idx="4">
                  <c:v>86206.29</c:v>
                </c:pt>
                <c:pt idx="5">
                  <c:v>93206.73</c:v>
                </c:pt>
                <c:pt idx="6">
                  <c:v>79655.61</c:v>
                </c:pt>
                <c:pt idx="7">
                  <c:v>79937.97</c:v>
                </c:pt>
                <c:pt idx="8">
                  <c:v>92950.5</c:v>
                </c:pt>
                <c:pt idx="9">
                  <c:v>77035.29</c:v>
                </c:pt>
                <c:pt idx="10">
                  <c:v>75141</c:v>
                </c:pt>
                <c:pt idx="11">
                  <c:v>45044.26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algun Gothic"/>
                  <a:ea typeface="Malgun Gothic"/>
                  <a:cs typeface="Malgun 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2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3D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3D31"/>
              </a:solidFill>
              <a:latin typeface="Malgun Gothic"/>
              <a:ea typeface="Malgun Gothic"/>
              <a:cs typeface="Malgun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481F7-98E2-47BF-9513-5B736F4D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프로젝트 결과보고서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DAFC6-1170-4794-B6B8-09C79291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서울시 공공자전거 빅데이터를 활용한</a:t>
            </a:r>
          </a:p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대여소별 수급 불균형 예측 및</a:t>
            </a:r>
          </a:p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자전거 재배치 의사결정 지원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736ED-326E-4C55-9668-AF291CD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B5355-7DF3-40E0-A927-D160DCA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50350-6E0A-466D-A60A-AF2FC2EB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부족·고재고 위험을 예측하고, 운영자의 재배치 검토를 돕습니다.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444C74-D5BD-48EA-BC03-B1E2D036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/  김다예나 · 나경원 · 박상혁 · 배혜진</a:t>
            </a:r>
          </a:p>
          <a:p xmlns:a="http://schemas.openxmlformats.org/drawingml/2006/main">
            <a:pPr>
              <a:def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프로젝트 기간  2026.09.23 ~ 2026.10.12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7101C-E955-4520-81D9-790A51A7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훈련기관·멘토 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23111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5A432-9CC8-494D-97F6-CFD2B4B2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01 개요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962AA-F282-44B0-990C-4466C6BA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예측 결과를 재배치 검토로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422A6-17FA-48FE-A586-A1378527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FB51F-F93C-477A-A82C-EA5C8EED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문제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질문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화면에서 할 일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자전거 부족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1시간 뒤 자전거가 2대 이하인가?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 위험 대여소를 우선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고재고 위험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1시간 뒤 거치대 대비 재고가 90% 이상인가?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여유 재고와 현장 상태 확인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대상 선정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어느 대여소부터 확인할 것인가?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위험도·최신성 확인 후 검토 목록 추가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84886-5C20-4967-947D-D4B0092F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목표 성과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E6E3E-208B-4F66-ADC9-A84908EA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부족 지속시간과 현장 대응시간 감소를 향후 실증으로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81D13-F424-444A-BAD3-41012CE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임곗값은 제안입니다. 고재고는 반납 불가를 확정하는 지표가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20058770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A3D4C-0611-49CA-BE86-5C476081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02 팀 구성 및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30D81-AAF0-449B-9AE4-2B25237B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자료별 담당과 후속 작업 분담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53A8A-37C9-4CDA-91CE-D7130B8D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075AD-8216-40DF-94FA-208438AA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3857625"/>
                <a:gridCol w="4733925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자료 담당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작업 제안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김다예나 (DA)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기상청 날씨 데이터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날씨 결합·품질 확인·발표 구성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나경원 (RA)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대여·반납 이력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시간별 대여/반납 집계·식별자 연결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박상혁 (PA)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시간대별 이용정보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특성·모델 학습·시간순 평가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배혜진 (HJ)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시간별 대여 가능 수량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재고·라벨 점검·웹/결과 정리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(All)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주제·목표와 데이터 확보 논의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임곗값 확정·결과 검토·발표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D34B7-2938-4655-9D96-48B7B9CD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훈련기관·멘토 성함 및 실제 멘토 피드백은 팀 확인 후 기입합니다.</a:t>
            </a:r>
          </a:p>
        </p:txBody>
      </p:sp>
    </p:spTree>
    <p:extLst>
      <p:ext uri="{BB962C8B-B14F-4D97-AF65-F5344CB8AC3E}">
        <p14:creationId xmlns:p14="http://schemas.microsoft.com/office/powerpoint/2010/main" val="160092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F7249-C3C5-4034-A151-B5385CB6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03 수행 절차 및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B95EB-912A-413D-91D1-2DABF84E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일정과 현재 진행 상태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9F53C-A63E-4F39-A8EA-79374E4B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FF630-8089-4404-897E-72EE127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00300"/>
                <a:gridCol w="1714500"/>
                <a:gridCol w="1714500"/>
                <a:gridCol w="1714500"/>
                <a:gridCol w="1714500"/>
                <a:gridCol w="1714500"/>
              </a:tblGrid>
              <a:tr h="563336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 / 기간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9.23~25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9.26~30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10.1~6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10.7~9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10.10~12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주제·자료 계획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정리·오류 수정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요일·휴일 분석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모델·서비스 설계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 / 검토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학습·검증·연동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</a:t>
                      </a:r>
                    </a:p>
                  </a:txBody>
                  <a:tcPr marL="133350" marR="114300" marT="114300" marB="95250" anchor="ctr">
                    <a:solidFill>
                      <a:srgbClr val="2FE2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</a:t>
                      </a:r>
                    </a:p>
                  </a:txBody>
                  <a:tcPr marL="133350" marR="114300" marT="114300" marB="95250" anchor="ctr">
                    <a:solidFill>
                      <a:srgbClr val="2FE290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시연·보고서 제출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</a:t>
                      </a:r>
                    </a:p>
                  </a:txBody>
                  <a:tcPr marL="133350" marR="114300" marT="114300" marB="95250" anchor="ctr">
                    <a:solidFill>
                      <a:srgbClr val="2FE290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1EE5F-A0A8-4247-803A-DE3F3FA7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기록·결과 확인과 향후 계획을 구분했습니다. 상세 20일 일정과 완료 상태는 관리 엑셀에서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44986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425F7-B37A-429B-AA54-430EF9C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03 수행 절차 및 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A0D9A-7278-4799-A4D6-270A75E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전체 처리 흐름과 개발 환경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7F27A-A248-434A-8D80-6A6D646F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50023-8AEB-4DB2-BC05-557C520E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784D6-E3C3-43F9-B611-98EA6B71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447D6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1.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4D044-EE33-4F44-B39E-7DFF52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57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447D6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2. 정리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590800" y="25050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7D64"/>
            </a:solidFill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6164A-C0ED-4AF3-B030-B0335E7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57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447D6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3. 학습·평가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829175" y="25050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7D64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9C1E2-051F-46C7-9A90-B7B7A72E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57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F"/>
          </a:solidFill>
          <a:ln xmlns:a="http://schemas.openxmlformats.org/drawingml/2006/main" w="9525">
            <a:solidFill>
              <a:srgbClr val="447D6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4. 서비스</a:t>
            </a:r>
          </a:p>
        </p:txBody>
      </p: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067550" y="25050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7D64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69347-84C3-4449-9C69-9528145E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57400"/>
            <a:ext cx="1981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E290"/>
          </a:solidFill>
          <a:ln xmlns:a="http://schemas.openxmlformats.org/drawingml/2006/main" w="9525">
            <a:solidFill>
              <a:srgbClr val="447D6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5. 운영자 검토</a:t>
            </a:r>
          </a:p>
        </p:txBody>
      </p:sp>
      <p:cxnSp>
        <p:nvCxnSpPr>
          <p:cNvPr id="3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305925" y="2505075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7D64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1814D-6381-4AF3-9D38-B9F5B5A4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009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재고·대여반납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날씨 이력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800F5-45CE-4394-8D36-302C0530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228975"/>
            <a:ext cx="2009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ID×시각 연결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결측·중복 점검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FBF9D-4DAF-4626-AB17-B55D977B0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28975"/>
            <a:ext cx="2009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과거 특성 학습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시간순 성능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4FEE8-03D6-436C-86AB-AB3AC17E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28975"/>
            <a:ext cx="2009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지역별 위험 조회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검토 목록 저장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709E9-253C-4F6B-A8FE-FB955E5F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28975"/>
            <a:ext cx="20097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현장 상태 확인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이동 계획 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08D003-D846-43FC-A14F-DC521DBD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원본 보관과 수집 시각 기록을 모든 단계에 연결합니다.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9FB9C-CE64-450D-85DD-AB55E4E7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Python · pandas · scikit-learn · matplotlib/seaborn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9903A2-72B0-45AF-921E-710102D3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Jupyter / VS Code / PyCharm · Git     서비스 연결: Flask (예정)</a:t>
            </a:r>
          </a:p>
        </p:txBody>
      </p:sp>
    </p:spTree>
    <p:extLst>
      <p:ext uri="{BB962C8B-B14F-4D97-AF65-F5344CB8AC3E}">
        <p14:creationId xmlns:p14="http://schemas.microsoft.com/office/powerpoint/2010/main" val="1211041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24DD-3E2D-480E-A018-0B81DE7E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072D-DF10-4051-8732-39BF6F55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수집 자료와 확인된 분석 범위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94726-AE54-4810-994B-232359D1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64DE9-644D-4CDE-89C1-CB46A3DE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90825"/>
                <a:gridCol w="4191000"/>
                <a:gridCol w="3990975"/>
              </a:tblGrid>
              <a:tr h="70675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범위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모델에서의 역할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대여·반납 최종 CSV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2023~2025, 36파일</a:t>
                      </a:r>
                    </a:p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84,333,039건 / 1,096일 / 25구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대여·반납량과 순변화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시간별 대여 가능 수량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2021~2025 월별 전처리 완료 기록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재고·1시간 후 정답 구성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대여소 정보·실시간 API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stationId, 위치, 거치대 수, 재고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식별자 매핑·화면 최신 현황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70675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날씨·달력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기상청 자료 / 요일·공휴일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기온·강수·시간·휴일 특성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C42BE-5A0E-4294-B2F9-238FDE65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실시간 한 번의 조회만으로 과거 학습자료를 만들 수 없습니다. 재고 이력의 시각·ID 연결을 먼저 검증합니다.</a:t>
            </a:r>
          </a:p>
        </p:txBody>
      </p:sp>
    </p:spTree>
    <p:extLst>
      <p:ext uri="{BB962C8B-B14F-4D97-AF65-F5344CB8AC3E}">
        <p14:creationId xmlns:p14="http://schemas.microsoft.com/office/powerpoint/2010/main" val="876314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9EA3E-82E4-4F66-961C-E664136D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AA3E7-2A3A-451B-83C0-93AC621F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예측 단위와 정답 라벨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1F43C-DEFE-47A6-84F9-A29B68B2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C07EE-068D-477E-B116-C7EDE7B6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74A32-6678-44BC-A80C-B2C0AA87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대여소 ID × 기준 시각 t  /  정확히 1시간 뒤 t+1의 상태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2200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267325"/>
                <a:gridCol w="3371850"/>
              </a:tblGrid>
              <a:tr h="7334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과제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양성(1) 정의안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정답에서 제외할 관측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 위험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t+1 자전거 수 ≤ 2대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미래 재고 누락·비정상 음수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고재고 위험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t+1 자전거 수 ÷ 거치대 수 ≥ 90%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거치대 수 누락·0 이하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8CCAF-AA8B-46F4-ABF6-9B3167EB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대여소별로 정확한 t+1 관측과 결합합니다. 단순히 다음 행을 정답으로 쓰지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9648F-D303-4571-B1B2-150A54E9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2대·90%는 팀 검토가 필요한 기준입니다. 고재고 위험과 실제 반납 불가를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3986182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DE112-631E-4728-AFB5-81073581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6B60F-898C-4056-AE4B-39928D72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전처리와 특성 공학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9D459-5A29-481F-BE22-A295A4A1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2BB9D-070C-42E3-9993-7026482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5238750"/>
                <a:gridCol w="3467100"/>
              </a:tblGrid>
              <a:tr h="69723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원칙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예시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식별자·시각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ID와 시각 중복 제거·대여소 이름 변경 매핑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대여소 ID, 자치구, 위치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재고·이동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 이전 값으로 지연·이동평균 생성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재고, 1·3시간 변화, 대여/반납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시간·날씨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요일/휴일 인코딩·발표시각≤t 날씨 사용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시간대, 주말, 공휴일, 기온, 강수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결측·스케일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훈련 구간에서만 대체·인코딩·스케일 학습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수치 중앙값, 결측 표시, 범주형 인코딩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59348-A427-468A-8668-D764003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정답 결측은 임의로 채우지 않습니다. 최종 전처리에서 사라진 대여소 ID는 원본으로 복원·대조해야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416084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15D26-1E0C-480F-8B02-F66FEAA5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A9219D-CDE3-4E7B-BB27-40BB8C49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일반 평일의 하루 평균 이용량이 가장 높음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088E1-9420-49C0-A089-B6874ACF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ACAF4-EEFC-4F13-A0D0-576D2D0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3550cca51849d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89550-92E0-44FE-B487-260DACC3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건/일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439EA-4623-453F-8308-720E07EE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333625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주말·휴일도</a:t>
            </a:r>
          </a:p>
          <a:p xmlns:a="http://schemas.openxmlformats.org/drawingml/2006/main">
            <a:pPr>
              <a:def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자치구별 차이를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93B3A-DFA8-4698-8506-C591589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76650"/>
            <a:ext cx="3333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서울 전체의 평균만으로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개별 대여소 위험을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판단할 수 없습니다.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A039A-0B0E-4AFA-8FF9-B8C85E6F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2023~2025년 실제 집계. 공휴일은 주말보다 우선 분류합니다. 날씨·계절의 영향이 함께 포함됩니다.</a:t>
            </a:r>
          </a:p>
        </p:txBody>
      </p:sp>
    </p:spTree>
    <p:extLst>
      <p:ext uri="{BB962C8B-B14F-4D97-AF65-F5344CB8AC3E}">
        <p14:creationId xmlns:p14="http://schemas.microsoft.com/office/powerpoint/2010/main" val="10419783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888FB-0635-46ED-A968-1F5676FC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073D9-6183-4691-9EC8-FDF494E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기존 분석에서 확인한 패턴과 예측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3E1D5-887B-456D-88A0-F8042000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6F660-4403-4F3A-9F29-92261F62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670560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9b764d1b1b41f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C87EA-47C7-4F74-8C1E-2FFEB35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2025 테스트 MAE (낮을수록 좋음)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02362-28F5-4DAC-8AEA-458E0CE5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335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35.2% 감소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154D2-3FF8-4052-827B-37A1358C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371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구 단위 일별 이용량 회귀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166F-F176-42EA-B151-092F2AB5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3467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요일 패턴 군집 k=2</a:t>
            </a:r>
          </a:p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실루엣 0.641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군집은 지역 해석에 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6728E-64B5-4F46-9A2E-D2B699C6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새로운 대여소별 부족·고재고 분류 성능은 아직 측정하지 않았습니다. 기존 회귀 성과와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835941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B517D-8D63-42E2-AA4B-8ABFB244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04 데이터 수집 및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A6A5-AEC1-4A08-89C4-AA332EB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월별 이용량의 계절 변동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B9C2F-4AA6-4C1F-8C3F-28B31315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BC349-84BF-4239-B831-6606A145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caedd39a5d499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A3E56-FDF3-4C15-AAE7-CB89C78D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월별 하루 평균 대여 건수 (서울 전체, 2023~2025)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C8941-FF97-4A11-9F9B-E74BC086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겨울의 낮은 이용량이 반복됩니다. 요일·휴일과 함께 월·날씨 특성을 검토합니다.</a:t>
            </a:r>
          </a:p>
        </p:txBody>
      </p:sp>
    </p:spTree>
    <p:extLst>
      <p:ext uri="{BB962C8B-B14F-4D97-AF65-F5344CB8AC3E}">
        <p14:creationId xmlns:p14="http://schemas.microsoft.com/office/powerpoint/2010/main" val="14512793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51335-1A40-4A96-B38E-CB94B309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05 모델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81908-1E4D-44B1-8713-7665BF1E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모델 후보와 비교할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08180-D565-4FF5-9896-17689279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61B5D-E69C-442F-9C78-83643FF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3248025"/>
                <a:gridCol w="4533900"/>
              </a:tblGrid>
              <a:tr h="8001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이유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비교 설정안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LogisticRegression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모델·계수 해석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C=0.1, 1, 10 / max_iter=2000</a:t>
                      </a:r>
                    </a:p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class_weight=balanced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DecisionTreeClassifier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분기 규칙 설명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max_depth=4, 8, 12</a:t>
                      </a:r>
                    </a:p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min_samples_leaf=10, 30 / balanced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RandomForestClassifier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비선형·특성 상호작용 비교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n_estimators=300 / depth=10, 20, None</a:t>
                      </a:r>
                    </a:p>
                    <a:p>
                      <a:r>
                        <a:rPr sz="157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leaf=5, 20 / balanced_subsample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71ADD-3420-4448-9B3B-6C536614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상관관계는 훈련 자료로 확인하고, 중요도는 검증 성능과 함께 해석합니다.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84D71-744D-42BE-A7AB-B6A8555F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군집 특성을 모델에 넣는 경우 KMeans·스케일러도 훈련 구간에서만 학습합니다.</a:t>
            </a:r>
          </a:p>
        </p:txBody>
      </p:sp>
    </p:spTree>
    <p:extLst>
      <p:ext uri="{BB962C8B-B14F-4D97-AF65-F5344CB8AC3E}">
        <p14:creationId xmlns:p14="http://schemas.microsoft.com/office/powerpoint/2010/main" val="3614508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C1DD8-BC69-4D05-8E91-CBADE28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05 모델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C42B4-A31D-4402-80F5-C4FB84BD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시간순 평가와 불균형 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DB9B-8679-4FF9-904E-ED7A14AF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5FEA2-D355-4EE9-8343-95CC8583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2676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762375"/>
                <a:gridCol w="4924425"/>
              </a:tblGrid>
              <a:tr h="66913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구간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목적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원칙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훈련 2023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전처리·모델 학습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두 라벨의 실제 양성 비율부터 집계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2024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모델·매개변수·임곗값 선택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class_weight 우선, 재표본화와 별도 비교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69131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 2025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선택 완료 모델의 마지막 평가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원래 클래스 비율 유지·한 번만 최종 평가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04787-0E6C-4B00-9DC5-E47330F6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훈련 구간 안에서만 재표본화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AD468-37E2-4169-AEA3-26D8C46C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범주형을 포함하면 SMOTENC 검토(확장안).</a:t>
            </a:r>
          </a:p>
          <a:p xmlns:a="http://schemas.openxmlformats.org/drawingml/2006/main">
            <a:pPr>
              <a:def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분할 경계 밖 미래 라벨은 제거하고 무작위 분할을 피합니다.</a:t>
            </a:r>
          </a:p>
        </p:txBody>
      </p:sp>
    </p:spTree>
    <p:extLst>
      <p:ext uri="{BB962C8B-B14F-4D97-AF65-F5344CB8AC3E}">
        <p14:creationId xmlns:p14="http://schemas.microsoft.com/office/powerpoint/2010/main" val="19742060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2F52A-453E-44C2-8548-4F287950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05 모델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C45A2-EF95-474E-8646-B7688129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새 이진 분류 모델 성능 기록표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58417-6343-4662-9004-E22B1590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45C19-FB57-4169-B104-8B8602AE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1714500"/>
                <a:gridCol w="1714500"/>
                <a:gridCol w="1866900"/>
                <a:gridCol w="1866900"/>
              </a:tblGrid>
              <a:tr h="6810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후보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PR-AUC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ROC-AUC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LogisticRegression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DecisionTreeClassifier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RandomForestClassifier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미측정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9658B-F4E4-4D01-A990-9803B2A4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F1·Recall·Precision과 혼동행렬로 누락/오경보를 함께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2E7FD-9FBA-48D1-80C3-4138D84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수업 지표 F1·ROC-AUC로 비교하고, PR-AUC는 추가 검토 지표로 둡니다.</a:t>
            </a:r>
          </a:p>
        </p:txBody>
      </p:sp>
    </p:spTree>
    <p:extLst>
      <p:ext uri="{BB962C8B-B14F-4D97-AF65-F5344CB8AC3E}">
        <p14:creationId xmlns:p14="http://schemas.microsoft.com/office/powerpoint/2010/main" val="10840021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A872AF-5CEA-46F7-A59A-E16DD9C2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06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BA0C7-B966-4ACC-8D30-BA38CC23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운영자의 재배치 검토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353AD-1E3B-4DDE-84A5-C1B62F6A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87AA0-B424-4C57-B6B7-F6A3BEA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5095875"/>
                <a:gridCol w="4448175"/>
              </a:tblGrid>
              <a:tr h="6438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동작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판단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서울 지도에서 자치구 선택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지역·날짜·시각 확인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위험도 순 대여소 목록 조회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 / 고재고 위험과 최신성 점검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대여소 상세 확인·검토 목록 추가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확인할 대여소 선정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검토 목록 CSV 내려받기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운영자 검토 후 이동 계획 결정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E1878-AD83-475D-978F-550B8E3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재배치 대수·차량 경로 최적화는 후속 범위입니다. 관측이 오래된 대여소는 판단을 보류합니다.</a:t>
            </a:r>
          </a:p>
        </p:txBody>
      </p:sp>
    </p:spTree>
    <p:extLst>
      <p:ext uri="{BB962C8B-B14F-4D97-AF65-F5344CB8AC3E}">
        <p14:creationId xmlns:p14="http://schemas.microsoft.com/office/powerpoint/2010/main" val="709123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D5FA2E-78F2-4717-8BAE-3F1542DB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06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8F336-62E7-41D7-BFA6-9BB3152E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서울 지도에서 지역별 위험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FE84-C961-4B29-A97E-794CA0AD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855FF-AF6A-4EF9-8C10-63454199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75ea135bc42f6"/>
          <a:stretch xmlns:a="http://schemas.openxmlformats.org/drawingml/2006/main"/>
        </p:blipFill>
        <p:spPr>
          <a:xfrm xmlns:a="http://schemas.openxmlformats.org/drawingml/2006/main">
            <a:off x="1686232" y="1600200"/>
            <a:ext cx="8819535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6E37B-0A60-4D06-AEFC-8B1D0F6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가상 예시 화면. 25개 자치구 선택과 키보드 탐색을 제공하며, 데이터 미연결 지역은 “자료 없음”으로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1787514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BD7D5-0160-4061-B106-D74479BE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06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AAB97-A74D-4B79-8FCD-7AB07A25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대여소 검색과 위험별 우선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1C49F-9968-4C0C-8689-F8729BD5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00583-79C1-4832-86A2-E9B9CDCD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907b6d36446b3"/>
          <a:stretch xmlns:a="http://schemas.openxmlformats.org/drawingml/2006/main"/>
        </p:blipFill>
        <p:spPr>
          <a:xfrm xmlns:a="http://schemas.openxmlformats.org/drawingml/2006/main">
            <a:off x="933355" y="1571625"/>
            <a:ext cx="10325291" cy="4143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80F0B-6CA3-4745-AF37-17FE7E3F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가상 예시 화면. 위험 확률·관측 시각을 함께 보여 주고, 부족·고재고·보류 상태를 글자로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6497612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6E8982-3EC5-4064-9860-DADDCDFC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06 서비스 구현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83146-01E1-4CF1-9A3D-0BAC57A6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반응형 구성과 접근성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A90E1-7886-4EF0-916B-1EDAFC6C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C8EB5-8C3C-4B09-BC30-490AACA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52a6713a94b52"/>
          <a:stretch xmlns:a="http://schemas.openxmlformats.org/drawingml/2006/main"/>
        </p:blipFill>
        <p:spPr>
          <a:xfrm xmlns:a="http://schemas.openxmlformats.org/drawingml/2006/main">
            <a:off x="1101514" y="1600200"/>
            <a:ext cx="2007021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677B8-C9AF-44FC-AEB0-16B86E1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621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화면 폭에 따라 내용 재배치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E360D-DB0E-4636-BC30-793B0459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714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데스크톱: 지도와 지역 요약을 나란히 표시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태블릿: 여백과 표 폭을 조정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모바일: 메뉴를 두 줄로, 내용을 한 열로 배치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24D07-E842-4839-870C-4A64BCDD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7143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입력 라벨·키보드 포커스·대화상자 닫기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색상과 상태 문구를 함께 사용</a:t>
            </a:r>
          </a:p>
          <a:p xmlns:a="http://schemas.openxmlformats.org/drawingml/2006/main">
            <a:pPr>
              <a:def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데이터 없는 상태와 0대를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39E1D-DD04-457C-A650-5701523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주요 색상: #38FFA5 / #2FE290 / #447D64 / #445664. 밝은 초록 배경에는 진한 글자를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7288095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FF495-8A23-48D9-84AA-06D261E8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07 수행 경과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95DC8-F8EF-4BB8-8972-D89BA081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확인된 작업과 목표 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90891-9F7D-49CC-870A-25C09381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74455-6ECA-49BB-8C95-F4959523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228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6238875"/>
                <a:gridCol w="2971800"/>
              </a:tblGrid>
              <a:tr h="64579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일자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내용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 또는 상태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09.30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2021~2025 시간별 재고 전처리 완료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전체 기록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10.01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2024~2025 미확인 자치구 수정·발표 구성 정리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 전체 기록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10.02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요일·휴일 분석과 구별 회귀 비교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결과가 포함된 분석 노트북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579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10.06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대여소 수급 위험·운영자 검토 중심으로 설계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제안 반영 / 팀 확정 필요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7CDCF-E192-466B-89AF-72EA9F54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멘토 지원·피드백: 자료 미제공, 날짜·내용·반영 결과 확인 후 기록</a:t>
            </a:r>
          </a:p>
        </p:txBody>
      </p:sp>
    </p:spTree>
    <p:extLst>
      <p:ext uri="{BB962C8B-B14F-4D97-AF65-F5344CB8AC3E}">
        <p14:creationId xmlns:p14="http://schemas.microsoft.com/office/powerpoint/2010/main" val="1393005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CD98E-650B-45E9-AF00-5E58B83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08 자체 평가 및 향후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C502-4337-48A1-8267-E8F0AB6E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검증 가능한 범위와 남은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DD1F-71F1-4BBE-93DE-FF2A02DD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1647D-7A7E-44FF-9599-3CC252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24050"/>
                <a:gridCol w="4772025"/>
                <a:gridCol w="4276725"/>
              </a:tblGrid>
              <a:tr h="6477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확인</a:t>
                      </a:r>
                    </a:p>
                  </a:txBody>
                  <a:tcPr marL="133350" marR="114300" marT="114300" marB="95250" anchor="ctr">
                    <a:solidFill>
                      <a:srgbClr val="447D6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요일·휴일별 실제 집계와 회귀 기준선 확보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대여소 단위 ID·시간 연결 점검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부족·고재고 두 이진 과제 설계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라벨 분포·시간순 성능·임곗값 검증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반응형 웹 시안·검색·검토 목록 구현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실시간/API·모델 연결과 현장 검증</a:t>
                      </a:r>
                    </a:p>
                  </a:txBody>
                  <a:tcPr marL="133350" marR="114300" marT="114300" marB="95250" anchor="ctr">
                    <a:solidFill>
                      <a:srgbClr val="EDF5E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자체 평가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10점 만점 점수는 팀 합의 후 기입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83D3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멘토 의견·장단점·개선 결과 확정</a:t>
                      </a:r>
                    </a:p>
                  </a:txBody>
                  <a:tcPr marL="13335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2871-F8FC-496D-9FC3-C4ED7F5B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10.07~10.12 계획: 학습·평가, 서비스 연동, 기능 시연 영상, 최종 보고서 제출. 운영 성과는 후속 실증 대상입니다.</a:t>
            </a:r>
          </a:p>
        </p:txBody>
      </p:sp>
    </p:spTree>
    <p:extLst>
      <p:ext uri="{BB962C8B-B14F-4D97-AF65-F5344CB8AC3E}">
        <p14:creationId xmlns:p14="http://schemas.microsoft.com/office/powerpoint/2010/main" val="20918398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1F879-28E1-49D5-A7CC-3B51FA2F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09 참고자료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51B5B-0CB5-40A1-BF06-22C11551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데이터 출처와 제출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F41DA-8C36-4037-9C32-B82520E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3조 따릉이   2026.10.06 기준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3B4EE-8809-4D38-8E88-B2EE3C4E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484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5064E-5AA3-4825-B37C-B1B73017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서울 열린데이터 광장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2594D-F17D-4DDC-96BF-732A0513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공공자전거 실시간 대여정보·대여소 정보·대여반납 이력</a:t>
            </a:r>
          </a:p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data.seoul.go.kr   실시간 API 식별자 OA-15493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98275-E847-4C12-8659-D2CD3D2B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기상청 기상자료개방포털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D6933-53F3-4D97-9C18-8765AC98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지상(종관, ASOS) 시간자료와 품질 정보  data.kma.go.kr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28997-AC45-4104-835F-0B1B49F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447D64"/>
                </a:solidFill>
                <a:latin typeface="Malgun Gothic"/>
                <a:ea typeface="Malgun Gothic"/>
                <a:cs typeface="Malgun Gothic"/>
              </a:rPr>
              <a:t>방법 및 화면 자료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F4C548-474C-4603-85C8-E76BC877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10972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수업 노트 C:\ai\Source · imbalanced-learn 공식 문서</a:t>
            </a:r>
          </a:p>
          <a:p xmlns:a="http://schemas.openxmlformats.org/drawingml/2006/main">
            <a:pPr>
              <a:def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83D31"/>
                </a:solidFill>
                <a:latin typeface="Malgun Gothic"/>
                <a:ea typeface="Malgun Gothic"/>
                <a:cs typeface="Malgun Gothic"/>
              </a:rPr>
              <a:t>southkorea/seoul-maps (KOSTAT 2013, Apache 2.0) · 팀 제공 화면/일지 양식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D30DA-D5D3-40C4-A11F-A54AAC56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445664"/>
                </a:solidFill>
                <a:latin typeface="Malgun Gothic"/>
                <a:ea typeface="Malgun Gothic"/>
                <a:cs typeface="Malgun Gothic"/>
              </a:rPr>
              <a:t>제출 묶음: 결과보고서 PPT / 웹 시안 및 화면 / 작업일지 DOCX / 프로젝트 관리 XLSX</a:t>
            </a:r>
          </a:p>
        </p:txBody>
      </p:sp>
    </p:spTree>
    <p:extLst>
      <p:ext uri="{BB962C8B-B14F-4D97-AF65-F5344CB8AC3E}">
        <p14:creationId xmlns:p14="http://schemas.microsoft.com/office/powerpoint/2010/main" val="891078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2026-10-06T02:04:27.8410000Z</dcterms:created>
  <dcterms:modified xsi:type="dcterms:W3CDTF">2026-10-06T02:04:27.8410000Z</dcterms:modified>
</coreProperties>
</file>